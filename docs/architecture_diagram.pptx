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40" d="100"/>
          <a:sy n="140" d="100"/>
        </p:scale>
        <p:origin x="-24" y="-1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40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Adaptive RAG Clinical Assistant  —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02336"/>
            <a:ext cx="11914632" cy="9418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" y="402336"/>
            <a:ext cx="11914632" cy="2377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438912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9224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app.py  ·  Streamlit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832104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User Profile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Role + Experience Years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→ </a:t>
            </a:r>
            <a:r>
              <a:rPr sz="650" dirty="0" err="1">
                <a:solidFill>
                  <a:srgbClr val="6B7280"/>
                </a:solidFill>
              </a:rPr>
              <a:t>detect_user_type</a:t>
            </a:r>
            <a:r>
              <a:rPr sz="650" dirty="0">
                <a:solidFill>
                  <a:srgbClr val="6B7280"/>
                </a:solidFill>
              </a:rPr>
              <a:t>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4398" y="832104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Document Upload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PDF Clinical Documents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(</a:t>
            </a:r>
            <a:r>
              <a:rPr sz="650" dirty="0" err="1">
                <a:solidFill>
                  <a:srgbClr val="6B7280"/>
                </a:solidFill>
              </a:rPr>
              <a:t>PyPDFLoader</a:t>
            </a:r>
            <a:r>
              <a:rPr sz="650" dirty="0">
                <a:solidFill>
                  <a:srgbClr val="6B7280"/>
                </a:solidFill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0196" y="832104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Query Interface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Natural Language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Question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5994" y="832104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Chat History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Session Cache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Formatted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353312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1472184"/>
            <a:ext cx="11914632" cy="9784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" y="1472184"/>
            <a:ext cx="11914632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1508760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&amp; QUERY PROFILING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719072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src/personas.py  ·  src/query_classifier.py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874520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Persona Detection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NOVICE · INTERMEDIATE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EXPERT · REGULATORY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EXECUTIVE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rule-based, deterministic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3" y="1874520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Query Classification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9 types: Definition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Procedure · Compliance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Safety · Eligibility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Comparison + 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7" y="1874520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Response Config</a:t>
            </a:r>
          </a:p>
          <a:p>
            <a:pPr algn="ctr"/>
            <a:r>
              <a:rPr sz="650" dirty="0" err="1">
                <a:solidFill>
                  <a:srgbClr val="6B7280"/>
                </a:solidFill>
              </a:rPr>
              <a:t>detail_level</a:t>
            </a:r>
            <a:r>
              <a:rPr sz="650" dirty="0">
                <a:solidFill>
                  <a:srgbClr val="6B7280"/>
                </a:solidFill>
              </a:rPr>
              <a:t> · </a:t>
            </a:r>
            <a:r>
              <a:rPr sz="650" dirty="0" err="1">
                <a:solidFill>
                  <a:srgbClr val="6B7280"/>
                </a:solidFill>
              </a:rPr>
              <a:t>max_length</a:t>
            </a:r>
            <a:endParaRPr sz="650" dirty="0">
              <a:solidFill>
                <a:srgbClr val="6B7280"/>
              </a:solidFill>
            </a:endParaRPr>
          </a:p>
          <a:p>
            <a:pPr algn="ctr"/>
            <a:r>
              <a:rPr sz="650" dirty="0" err="1">
                <a:solidFill>
                  <a:srgbClr val="6B7280"/>
                </a:solidFill>
              </a:rPr>
              <a:t>use_tables</a:t>
            </a:r>
            <a:r>
              <a:rPr sz="650" dirty="0">
                <a:solidFill>
                  <a:srgbClr val="6B7280"/>
                </a:solidFill>
              </a:rPr>
              <a:t> · </a:t>
            </a:r>
            <a:r>
              <a:rPr sz="650" dirty="0" err="1">
                <a:solidFill>
                  <a:srgbClr val="6B7280"/>
                </a:solidFill>
              </a:rPr>
              <a:t>use_bullets</a:t>
            </a:r>
            <a:endParaRPr sz="650" dirty="0">
              <a:solidFill>
                <a:srgbClr val="6B7280"/>
              </a:solidFill>
            </a:endParaRPr>
          </a:p>
          <a:p>
            <a:pPr algn="ctr"/>
            <a:r>
              <a:rPr sz="650" dirty="0" err="1">
                <a:solidFill>
                  <a:srgbClr val="6B7280"/>
                </a:solidFill>
              </a:rPr>
              <a:t>include_references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formatting hints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7316" y="2423159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21CAF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2542032"/>
            <a:ext cx="11914632" cy="978408"/>
          </a:xfrm>
          <a:prstGeom prst="rect">
            <a:avLst/>
          </a:prstGeom>
          <a:solidFill>
            <a:srgbClr val="FDF4FF"/>
          </a:solidFill>
          <a:ln w="1270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" y="2542032"/>
            <a:ext cx="11914632" cy="237744"/>
          </a:xfrm>
          <a:prstGeom prst="rect">
            <a:avLst/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2578608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HYBRID RETRIEVAL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788920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src/retrieval.py  ·  HybridRetriever  ·  ReciprocalRankFusion  (k=60, Cormack et al. 2009)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2944368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Semantic Search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sz="800" b="1" dirty="0">
                <a:solidFill>
                  <a:srgbClr val="1A1A2E"/>
                </a:solidFill>
              </a:rPr>
              <a:t>(ChromaDB)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HuggingFace Sentence Transformers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Default: S-PubMedBert-MS-MARCO</a:t>
            </a:r>
            <a:r>
              <a:rPr lang="en-US" sz="650" dirty="0">
                <a:solidFill>
                  <a:srgbClr val="6B7280"/>
                </a:solidFill>
              </a:rPr>
              <a:t>- </a:t>
            </a:r>
            <a:r>
              <a:rPr sz="650" dirty="0">
                <a:solidFill>
                  <a:srgbClr val="6B7280"/>
                </a:solidFill>
              </a:rPr>
              <a:t>768 dim · cosine similarity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9663" y="2944368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Lexical Search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sz="800" b="1" dirty="0">
                <a:solidFill>
                  <a:srgbClr val="1A1A2E"/>
                </a:solidFill>
              </a:rPr>
              <a:t>(BM25)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rank-bm25 library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TF-IDF term-frequency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Exact keyword matching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7" y="2944368"/>
            <a:ext cx="3849624" cy="50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RRF Fusion  ( k = 60 )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score(d) = Σ 1/(k + rank)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rank-based merge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Top-5 deduplicated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7316" y="3493007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3611879"/>
            <a:ext cx="11914632" cy="9418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7160" y="3611879"/>
            <a:ext cx="11914632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3648456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VECTOR STORE  (ChromaDB)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3858768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Persisted: ./chroma_adaptive_{model}/    chunk_size = 800 tokens    chunk_overlap = 150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4041648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IRC Charters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Decision criteria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&amp; roles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4398" y="4041648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Clinical Protocols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Study design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&amp; procedures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0196" y="4041648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RECIST 1.1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sz="800" b="1" dirty="0">
                <a:solidFill>
                  <a:srgbClr val="1A1A2E"/>
                </a:solidFill>
              </a:rPr>
              <a:t>Guidelines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Tumor response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criteria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5994" y="4041648"/>
            <a:ext cx="2864358" cy="448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PET/CT Protocols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sz="800" b="1" dirty="0">
                <a:solidFill>
                  <a:srgbClr val="1A1A2E"/>
                </a:solidFill>
              </a:rPr>
              <a:t>&amp; Vendor Docs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Imaging instructions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&amp; equipment specs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7316" y="4562855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59669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4681727"/>
            <a:ext cx="11914632" cy="950976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7160" y="4681727"/>
            <a:ext cx="11914632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8600" y="4718303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RESPONSE GENERATION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4928615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src/prompts.py  ·  src/llm/factory.py  ·  ResponseStyler  ·  LLMFactory.create(config)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" y="5093207"/>
            <a:ext cx="3849624" cy="46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Adaptive Prompt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sz="800" b="1" dirty="0">
                <a:solidFill>
                  <a:srgbClr val="1A1A2E"/>
                </a:solidFill>
              </a:rPr>
              <a:t>Builder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query + retrieved chunks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+ </a:t>
            </a:r>
            <a:r>
              <a:rPr sz="650" dirty="0" err="1">
                <a:solidFill>
                  <a:srgbClr val="6B7280"/>
                </a:solidFill>
              </a:rPr>
              <a:t>ResponseConfig</a:t>
            </a:r>
            <a:r>
              <a:rPr sz="650" dirty="0">
                <a:solidFill>
                  <a:srgbClr val="6B7280"/>
                </a:solidFill>
              </a:rPr>
              <a:t> →</a:t>
            </a:r>
            <a:r>
              <a:rPr lang="en-US" sz="650" dirty="0">
                <a:solidFill>
                  <a:srgbClr val="6B7280"/>
                </a:solidFill>
              </a:rPr>
              <a:t> </a:t>
            </a:r>
            <a:r>
              <a:rPr sz="650" dirty="0">
                <a:solidFill>
                  <a:srgbClr val="6B7280"/>
                </a:solidFill>
              </a:rPr>
              <a:t>persona-aware prompt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9663" y="5093207"/>
            <a:ext cx="3849624" cy="46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OpenAI  (Cloud)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gpt-4o-mini  ·  gpt-4o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gpt-4  ·  gpt-3.5-turbo</a:t>
            </a:r>
            <a:r>
              <a:rPr lang="en-US" sz="650" dirty="0">
                <a:solidFill>
                  <a:srgbClr val="6B7280"/>
                </a:solidFill>
              </a:rPr>
              <a:t>, </a:t>
            </a:r>
            <a:r>
              <a:rPr sz="650" dirty="0">
                <a:solidFill>
                  <a:srgbClr val="6B7280"/>
                </a:solidFill>
              </a:rPr>
              <a:t>OpenAI REST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0727" y="5093207"/>
            <a:ext cx="3849624" cy="46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1A1A2E"/>
                </a:solidFill>
              </a:rPr>
              <a:t>Ollama  (Local /</a:t>
            </a:r>
            <a:r>
              <a:rPr lang="en-IN" sz="800" b="1" dirty="0">
                <a:solidFill>
                  <a:srgbClr val="1A1A2E"/>
                </a:solidFill>
              </a:rPr>
              <a:t>A</a:t>
            </a:r>
            <a:r>
              <a:rPr sz="800" b="1" dirty="0" err="1">
                <a:solidFill>
                  <a:srgbClr val="1A1A2E"/>
                </a:solidFill>
              </a:rPr>
              <a:t>ir</a:t>
            </a:r>
            <a:r>
              <a:rPr sz="800" b="1" dirty="0">
                <a:solidFill>
                  <a:srgbClr val="1A1A2E"/>
                </a:solidFill>
              </a:rPr>
              <a:t>-gapped)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llama3.1:8b  ·  </a:t>
            </a:r>
            <a:r>
              <a:rPr sz="650" dirty="0" err="1">
                <a:solidFill>
                  <a:srgbClr val="6B7280"/>
                </a:solidFill>
              </a:rPr>
              <a:t>BioMistral</a:t>
            </a:r>
            <a:r>
              <a:rPr sz="650" dirty="0">
                <a:solidFill>
                  <a:srgbClr val="6B7280"/>
                </a:solidFill>
              </a:rPr>
              <a:t> 7B</a:t>
            </a:r>
            <a:r>
              <a:rPr lang="en-US" sz="650" dirty="0">
                <a:solidFill>
                  <a:srgbClr val="6B7280"/>
                </a:solidFill>
              </a:rPr>
              <a:t>  </a:t>
            </a:r>
            <a:r>
              <a:rPr sz="650" dirty="0">
                <a:solidFill>
                  <a:srgbClr val="6B7280"/>
                </a:solidFill>
              </a:rPr>
              <a:t>mistral:7b  ·  </a:t>
            </a:r>
            <a:r>
              <a:rPr sz="650" dirty="0" err="1">
                <a:solidFill>
                  <a:srgbClr val="6B7280"/>
                </a:solidFill>
              </a:rPr>
              <a:t>MedGemma</a:t>
            </a:r>
            <a:r>
              <a:rPr sz="650" dirty="0">
                <a:solidFill>
                  <a:srgbClr val="6B7280"/>
                </a:solidFill>
              </a:rPr>
              <a:t> 4B</a:t>
            </a:r>
          </a:p>
          <a:p>
            <a:pPr algn="ctr"/>
            <a:r>
              <a:rPr sz="650" dirty="0">
                <a:solidFill>
                  <a:srgbClr val="6B7280"/>
                </a:solidFill>
              </a:rPr>
              <a:t>fully on-premise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57316" y="5632703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284C7"/>
                </a:solidFill>
              </a:rPr>
              <a:t>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5751575"/>
            <a:ext cx="11914632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37160" y="5751575"/>
            <a:ext cx="11914632" cy="23774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8600" y="5788151"/>
            <a:ext cx="1173175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RESPONSE WITH INLINE CITATIONS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5998463"/>
            <a:ext cx="117317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374151"/>
                </a:solidFill>
              </a:rPr>
              <a:t>Persona-tailored answer  ·  Citation-backed  ·  Structured per ResponseConfig  ·  Detail level adapted to user expertise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348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Khalid Siddiqui</cp:lastModifiedBy>
  <cp:revision>2</cp:revision>
  <dcterms:created xsi:type="dcterms:W3CDTF">2013-01-27T09:14:16Z</dcterms:created>
  <dcterms:modified xsi:type="dcterms:W3CDTF">2026-02-18T11:59:43Z</dcterms:modified>
  <cp:category/>
</cp:coreProperties>
</file>